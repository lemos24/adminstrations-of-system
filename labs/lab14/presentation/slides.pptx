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7" Type="http://schemas.openxmlformats.org/officeDocument/2006/relationships/viewProps" Target="viewProps.xml" /><Relationship Id="rId4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49" Type="http://schemas.openxmlformats.org/officeDocument/2006/relationships/tableStyles" Target="tableStyles.xml" /><Relationship Id="rId48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7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8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9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0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1.pn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2.pn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3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4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5.png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6.png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7.png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8.png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9.png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0.png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1.png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2.png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3.png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4.png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5.png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6.png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7.png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8.png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9.png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0.png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1.png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2.png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3.png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4.png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5.png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6.png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7.png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8.png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9.png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Лабораторная работа №14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Управление дисками, разделами и файловыми системами</a:t>
            </a:r>
            <a:br/>
            <a:br/>
            <a:r>
              <a:rPr/>
              <a:t>Лемуш Мариу Франсишку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2025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Докладчик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Лемуш Мариу Франсишку</a:t>
            </a:r>
          </a:p>
          <a:p>
            <a:pPr lvl="0"/>
            <a:r>
              <a:rPr/>
              <a:t>Студент группы НПИбд-01-24</a:t>
            </a:r>
          </a:p>
          <a:p>
            <a:pPr lvl="0"/>
            <a:r>
              <a:rPr/>
              <a:t>Студ. билет 1032239162</a:t>
            </a:r>
          </a:p>
          <a:p>
            <a:pPr lvl="0"/>
            <a:r>
              <a:rPr/>
              <a:t>Российский университет дружбы народов ## Цель работы</a:t>
            </a:r>
          </a:p>
          <a:p>
            <a:pPr lvl="0"/>
            <a:r>
              <a:rPr/>
              <a:t>Изучить архитектуру управления дисками в ОС Linux</a:t>
            </a:r>
          </a:p>
          <a:p>
            <a:pPr lvl="0"/>
            <a:r>
              <a:rPr/>
              <a:t>Освоить основные команды для работы с разделами диска</a:t>
            </a:r>
          </a:p>
          <a:p>
            <a:pPr lvl="0"/>
            <a:r>
              <a:rPr/>
              <a:t>Научиться создавать и удалять разделы</a:t>
            </a:r>
          </a:p>
          <a:p>
            <a:pPr lvl="0"/>
            <a:r>
              <a:rPr/>
              <a:t>Получить навыки создания файловых систем</a:t>
            </a:r>
          </a:p>
          <a:p>
            <a:pPr lvl="0"/>
            <a:r>
              <a:rPr/>
              <a:t>Освоить методы монтирования и размонтирования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Теоретическая справка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Управление дисками в Linux</a:t>
            </a:r>
          </a:p>
          <a:p>
            <a:pPr lvl="0" indent="0" marL="0">
              <a:buNone/>
            </a:pPr>
            <a:r>
              <a:rPr/>
              <a:t>Основные понятия: - Раздел диска — логическая область на физическом диске - Таблица разделов — MBR или GPT - Файловая система — способ организации данных - Точка монтирования — директория для доступа к ФС</a:t>
            </a:r>
          </a:p>
          <a:p>
            <a:pPr lvl="0" indent="0" marL="0">
              <a:buNone/>
            </a:pPr>
            <a:r>
              <a:rPr/>
              <a:t>Основные команды: - </a:t>
            </a:r>
            <a:r>
              <a:rPr>
                <a:latin typeface="DejaVu Sans Mono"/>
              </a:rPr>
              <a:t>lsblk</a:t>
            </a:r>
            <a:r>
              <a:rPr/>
              <a:t>, </a:t>
            </a:r>
            <a:r>
              <a:rPr>
                <a:latin typeface="DejaVu Sans Mono"/>
              </a:rPr>
              <a:t>fdisk</a:t>
            </a:r>
            <a:r>
              <a:rPr/>
              <a:t>, </a:t>
            </a:r>
            <a:r>
              <a:rPr>
                <a:latin typeface="DejaVu Sans Mono"/>
              </a:rPr>
              <a:t>parted</a:t>
            </a:r>
            <a:r>
              <a:rPr/>
              <a:t> — работа с разделами - </a:t>
            </a:r>
            <a:r>
              <a:rPr>
                <a:latin typeface="DejaVu Sans Mono"/>
              </a:rPr>
              <a:t>mkfs</a:t>
            </a:r>
            <a:r>
              <a:rPr/>
              <a:t> — создание файловых систем - </a:t>
            </a:r>
            <a:r>
              <a:rPr>
                <a:latin typeface="DejaVu Sans Mono"/>
              </a:rPr>
              <a:t>mount</a:t>
            </a:r>
            <a:r>
              <a:rPr/>
              <a:t>, </a:t>
            </a:r>
            <a:r>
              <a:rPr>
                <a:latin typeface="DejaVu Sans Mono"/>
              </a:rPr>
              <a:t>umount</a:t>
            </a:r>
            <a:r>
              <a:rPr/>
              <a:t> — монтирование - </a:t>
            </a:r>
            <a:r>
              <a:rPr>
                <a:latin typeface="DejaVu Sans Mono"/>
              </a:rPr>
              <a:t>blkid</a:t>
            </a:r>
            <a:r>
              <a:rPr/>
              <a:t> — просмотр UUID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Просмотр всех дисков и разделов</a:t>
            </a:r>
          </a:p>
        </p:txBody>
      </p:sp>
      <p:pic>
        <p:nvPicPr>
          <p:cNvPr descr="../image/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057400" y="1193800"/>
            <a:ext cx="50165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1. Просмотр всех дисков и разделов с помощью lsblk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Детальная информация о дисках</a:t>
            </a:r>
          </a:p>
        </p:txBody>
      </p:sp>
      <p:pic>
        <p:nvPicPr>
          <p:cNvPr descr="../image/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879600" y="1193800"/>
            <a:ext cx="53848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2. Детальная информация о дисках с помощью fdisk -l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Информация о конкретном диске</a:t>
            </a:r>
          </a:p>
        </p:txBody>
      </p:sp>
      <p:pic>
        <p:nvPicPr>
          <p:cNvPr descr="../image/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70200" y="1193800"/>
            <a:ext cx="34036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3. Просмотр информации о диске /dev/sda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Просмотр UUID файловых систем</a:t>
            </a:r>
          </a:p>
        </p:txBody>
      </p:sp>
      <p:pic>
        <p:nvPicPr>
          <p:cNvPr descr="../image/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663700"/>
            <a:ext cx="8229600" cy="1955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4. Просмотр UUID всех файловых систем с помощью blkid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Просмотр смонтированных файловых систем</a:t>
            </a:r>
          </a:p>
        </p:txBody>
      </p:sp>
      <p:pic>
        <p:nvPicPr>
          <p:cNvPr descr="../image/5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336800" y="1193800"/>
            <a:ext cx="4483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5. Просмотр использования дискового пространства с помощью df -h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Просмотр информации о inode</a:t>
            </a:r>
          </a:p>
        </p:txBody>
      </p:sp>
      <p:pic>
        <p:nvPicPr>
          <p:cNvPr descr="../image/6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730500" y="1193800"/>
            <a:ext cx="3683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6. Просмотр использования inode с помощью df -i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Информация о разделах в /proc/partitions</a:t>
            </a:r>
          </a:p>
        </p:txBody>
      </p:sp>
      <p:pic>
        <p:nvPicPr>
          <p:cNvPr descr="../image/7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511300"/>
            <a:ext cx="8229600" cy="2260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7. Информация о разделах в файле /proc/partitions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Информация о блочных устройствах в /sys</a:t>
            </a:r>
          </a:p>
        </p:txBody>
      </p:sp>
      <p:pic>
        <p:nvPicPr>
          <p:cNvPr descr="../image/8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714500"/>
            <a:ext cx="8229600" cy="1854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8. Информация о блочных устройствах в директории /sys/block/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Запуск fdisk для диска</a:t>
            </a:r>
          </a:p>
        </p:txBody>
      </p:sp>
      <p:pic>
        <p:nvPicPr>
          <p:cNvPr descr="../image/9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768600" y="1193800"/>
            <a:ext cx="36068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9. Запуск fdisk для /dev/sdb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Просмотр таблицы разделов в fdisk</a:t>
            </a:r>
          </a:p>
        </p:txBody>
      </p:sp>
      <p:pic>
        <p:nvPicPr>
          <p:cNvPr descr="../image/1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146300" y="1193800"/>
            <a:ext cx="48387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10. Просмотр текущей таблицы разделов в fdisk (команда p)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Создание нового раздела</a:t>
            </a:r>
          </a:p>
        </p:txBody>
      </p:sp>
      <p:pic>
        <p:nvPicPr>
          <p:cNvPr descr="../image/1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70200" y="1193800"/>
            <a:ext cx="34036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11. Создание нового раздела в fdisk (команда n)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Выбор типа раздела</a:t>
            </a:r>
          </a:p>
        </p:txBody>
      </p:sp>
      <p:pic>
        <p:nvPicPr>
          <p:cNvPr descr="../image/1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828800" y="1193800"/>
            <a:ext cx="54864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12. Выбор типа раздела (primary/extended)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Указание номера раздела</a:t>
            </a:r>
          </a:p>
        </p:txBody>
      </p:sp>
      <p:pic>
        <p:nvPicPr>
          <p:cNvPr descr="../image/1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451100" y="1193800"/>
            <a:ext cx="42545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13. Указание номера создаваемого раздела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Указание первого сектора</a:t>
            </a:r>
          </a:p>
        </p:txBody>
      </p:sp>
      <p:pic>
        <p:nvPicPr>
          <p:cNvPr descr="../image/1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524000"/>
            <a:ext cx="8229600" cy="2222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14. Определение начального сектора раздела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Указание размера раздела</a:t>
            </a:r>
          </a:p>
        </p:txBody>
      </p:sp>
      <p:pic>
        <p:nvPicPr>
          <p:cNvPr descr="../image/15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146300" y="1193800"/>
            <a:ext cx="48387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15. Определение размера создаваемого раздела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Изменение типа раздела</a:t>
            </a:r>
          </a:p>
        </p:txBody>
      </p:sp>
      <p:pic>
        <p:nvPicPr>
          <p:cNvPr descr="../image/16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730500" y="1193800"/>
            <a:ext cx="3683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16. Изменение типа раздела (команда t)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Выбор кода типа раздела</a:t>
            </a:r>
          </a:p>
        </p:txBody>
      </p:sp>
      <p:pic>
        <p:nvPicPr>
          <p:cNvPr descr="../image/17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778000" y="1193800"/>
            <a:ext cx="5588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17. Установка типа раздела (Linux, swap и т.д.)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Список всех типов разделов</a:t>
            </a:r>
          </a:p>
        </p:txBody>
      </p:sp>
      <p:pic>
        <p:nvPicPr>
          <p:cNvPr descr="../image/18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552700" y="1193800"/>
            <a:ext cx="40386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18. Список всех типов разделов (команда l)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Удаление раздела</a:t>
            </a:r>
          </a:p>
        </p:txBody>
      </p:sp>
      <p:pic>
        <p:nvPicPr>
          <p:cNvPr descr="../image/19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57500" y="1193800"/>
            <a:ext cx="34163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19. Удаление раздела (команда d)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Сохранение изменений</a:t>
            </a:r>
          </a:p>
        </p:txBody>
      </p:sp>
      <p:pic>
        <p:nvPicPr>
          <p:cNvPr descr="../image/2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70200" y="1193800"/>
            <a:ext cx="34163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20. Сохранение изменений в fdisk (команда w)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Выход без сохранения</a:t>
            </a:r>
          </a:p>
        </p:txBody>
      </p:sp>
      <p:pic>
        <p:nvPicPr>
          <p:cNvPr descr="../image/2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108200" y="1193800"/>
            <a:ext cx="49276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21. Выход из fdisk без сохранения (команда q)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Запуск parted для диска</a:t>
            </a:r>
          </a:p>
        </p:txBody>
      </p:sp>
      <p:pic>
        <p:nvPicPr>
          <p:cNvPr descr="../image/2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959100" y="1193800"/>
            <a:ext cx="3213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22. Запуск parted для /dev/sdb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Просмотр разделов в parted</a:t>
            </a:r>
          </a:p>
        </p:txBody>
      </p:sp>
      <p:pic>
        <p:nvPicPr>
          <p:cNvPr descr="../image/2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600200" y="1193800"/>
            <a:ext cx="59436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23. Просмотр таблицы разделов в parted (команда print)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Создание таблицы разделов GPT</a:t>
            </a:r>
          </a:p>
        </p:txBody>
      </p:sp>
      <p:pic>
        <p:nvPicPr>
          <p:cNvPr descr="../image/2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44800" y="1193800"/>
            <a:ext cx="34544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24. Создание таблицы разделов GPT (команда mklabel gpt)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Создание раздела в parted</a:t>
            </a:r>
          </a:p>
        </p:txBody>
      </p:sp>
      <p:pic>
        <p:nvPicPr>
          <p:cNvPr descr="../image/25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041400" y="1193800"/>
            <a:ext cx="70612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25. Создание раздела в parted (команда mkpart)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Создание файловой системы ext4</a:t>
            </a:r>
          </a:p>
        </p:txBody>
      </p:sp>
      <p:pic>
        <p:nvPicPr>
          <p:cNvPr descr="../image/26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727200" y="1193800"/>
            <a:ext cx="56896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26. Создание файловой системы ext4 на разделе /dev/sdb1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Создание файловой системы XFS</a:t>
            </a:r>
          </a:p>
        </p:txBody>
      </p:sp>
      <p:pic>
        <p:nvPicPr>
          <p:cNvPr descr="../image/27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727200" y="1193800"/>
            <a:ext cx="56896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27. Создание файловой системы XFS на разделе /dev/sdb2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Создание раздела подкачки (swap)</a:t>
            </a:r>
          </a:p>
        </p:txBody>
      </p:sp>
      <p:pic>
        <p:nvPicPr>
          <p:cNvPr descr="../image/28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2336800"/>
            <a:ext cx="8229600" cy="609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28. Создание раздела подкачки с помощью mkswap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Создание файловой системы ext3</a:t>
            </a:r>
          </a:p>
        </p:txBody>
      </p:sp>
      <p:pic>
        <p:nvPicPr>
          <p:cNvPr descr="../image/29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654300" y="1193800"/>
            <a:ext cx="38354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29. Создание файловой системы ext3 на разделе /dev/sdb4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Создание файловой системы с меткой</a:t>
            </a:r>
          </a:p>
        </p:txBody>
      </p:sp>
      <p:pic>
        <p:nvPicPr>
          <p:cNvPr descr="../image/3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959100" y="1193800"/>
            <a:ext cx="3213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30. Создание файловой системы с меткой ( -L mydata)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Ручное монтирование раздела</a:t>
            </a:r>
          </a:p>
        </p:txBody>
      </p:sp>
      <p:pic>
        <p:nvPicPr>
          <p:cNvPr descr="../image/3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600200" y="1193800"/>
            <a:ext cx="59436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31. Ручное монтирование раздела /dev/sdb1 в /mnt/data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Просмотр всех смонтированных ФС</a:t>
            </a:r>
          </a:p>
        </p:txBody>
      </p:sp>
      <p:pic>
        <p:nvPicPr>
          <p:cNvPr descr="../image/3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244600"/>
            <a:ext cx="8229600" cy="2794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32. Просмотр всех смонтированных файловых систем (команда mount)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Монтирование по UUID</a:t>
            </a:r>
          </a:p>
        </p:txBody>
      </p:sp>
      <p:pic>
        <p:nvPicPr>
          <p:cNvPr descr="../image/3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959100" y="1193800"/>
            <a:ext cx="3213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33. Монтирование раздела по UUID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Монтирование с опциями</a:t>
            </a:r>
          </a:p>
        </p:txBody>
      </p:sp>
      <p:pic>
        <p:nvPicPr>
          <p:cNvPr descr="../image/3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2413000"/>
            <a:ext cx="8229600" cy="444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34. Монтирование с опциями noexec,nosuid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Размонтирование раздела</a:t>
            </a:r>
          </a:p>
        </p:txBody>
      </p:sp>
      <p:pic>
        <p:nvPicPr>
          <p:cNvPr descr="../image/35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2222500"/>
            <a:ext cx="8229600" cy="812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35. Размонтирование раздела с помощью umount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Принудительное размонтирование</a:t>
            </a:r>
          </a:p>
        </p:txBody>
      </p:sp>
      <p:pic>
        <p:nvPicPr>
          <p:cNvPr descr="../image/36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2311400"/>
            <a:ext cx="8229600" cy="660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36. Принудительное размонтирование (umount -l)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Просмотр файла /etc/fstab</a:t>
            </a:r>
          </a:p>
        </p:txBody>
      </p:sp>
      <p:pic>
        <p:nvPicPr>
          <p:cNvPr descr="../image/37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2311400"/>
            <a:ext cx="8229600" cy="635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37. Просмотр содержимого файла /etc/fstab</a:t>
            </a:r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Добавление записи в /etc/fstab</a:t>
            </a:r>
          </a:p>
        </p:txBody>
      </p:sp>
      <p:pic>
        <p:nvPicPr>
          <p:cNvPr descr="../image/38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981200" y="1193800"/>
            <a:ext cx="51816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38. Добавление строки для автоматического монтирования в /etc/fstab</a:t>
            </a:r>
          </a:p>
        </p:txBody>
      </p:sp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Проверка монтирования из fstab</a:t>
            </a:r>
          </a:p>
        </p:txBody>
      </p:sp>
      <p:pic>
        <p:nvPicPr>
          <p:cNvPr descr="../image/39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689100" y="1193800"/>
            <a:ext cx="5753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39. Проверка монтирования всех файловых систем из /etc/fstab (mount -a)</a:t>
            </a:r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Вывод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 ходе выполнения лабораторной работы были изучены методы управления дисками, разделами и файловыми системами в ОС Linux. Получены практические навыки просмотра информации о дисках с помощью команд </a:t>
            </a:r>
            <a:r>
              <a:rPr>
                <a:latin typeface="DejaVu Sans Mono"/>
              </a:rPr>
              <a:t>lsblk</a:t>
            </a:r>
            <a:r>
              <a:rPr/>
              <a:t>, </a:t>
            </a:r>
            <a:r>
              <a:rPr>
                <a:latin typeface="DejaVu Sans Mono"/>
              </a:rPr>
              <a:t>fdisk -l</a:t>
            </a:r>
            <a:r>
              <a:rPr/>
              <a:t>, </a:t>
            </a:r>
            <a:r>
              <a:rPr>
                <a:latin typeface="DejaVu Sans Mono"/>
              </a:rPr>
              <a:t>blkid</a:t>
            </a:r>
            <a:r>
              <a:rPr/>
              <a:t>. Освоены методы создания и удаления разделов с использованием </a:t>
            </a:r>
            <a:r>
              <a:rPr>
                <a:latin typeface="DejaVu Sans Mono"/>
              </a:rPr>
              <a:t>fdisk</a:t>
            </a:r>
            <a:r>
              <a:rPr/>
              <a:t> и </a:t>
            </a:r>
            <a:r>
              <a:rPr>
                <a:latin typeface="DejaVu Sans Mono"/>
              </a:rPr>
              <a:t>parted</a:t>
            </a:r>
            <a:r>
              <a:rPr/>
              <a:t>, создания файловых систем различных типов (</a:t>
            </a:r>
            <a:r>
              <a:rPr>
                <a:latin typeface="DejaVu Sans Mono"/>
              </a:rPr>
              <a:t>ext4</a:t>
            </a:r>
            <a:r>
              <a:rPr/>
              <a:t>, </a:t>
            </a:r>
            <a:r>
              <a:rPr>
                <a:latin typeface="DejaVu Sans Mono"/>
              </a:rPr>
              <a:t>xfs</a:t>
            </a:r>
            <a:r>
              <a:rPr/>
              <a:t>, </a:t>
            </a:r>
            <a:r>
              <a:rPr>
                <a:latin typeface="DejaVu Sans Mono"/>
              </a:rPr>
              <a:t>swap</a:t>
            </a:r>
            <a:r>
              <a:rPr/>
              <a:t>), ручного и автоматического монтирования через </a:t>
            </a:r>
            <a:r>
              <a:rPr>
                <a:latin typeface="DejaVu Sans Mono"/>
              </a:rPr>
              <a:t>mount</a:t>
            </a:r>
            <a:r>
              <a:rPr/>
              <a:t> и настройки </a:t>
            </a:r>
            <a:r>
              <a:rPr>
                <a:latin typeface="DejaVu Sans Mono"/>
              </a:rPr>
              <a:t>/etc/fstab</a:t>
            </a:r>
            <a:r>
              <a:rPr/>
              <a:t>.</a:t>
            </a:r>
          </a:p>
        </p:txBody>
      </p:sp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Список литературы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[1] Linux man pages: fdisk(8), parted(8), mkfs(8), mount(8), umount(8), blkid(8), lsblk(8)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Лабораторная работа №14</dc:title>
  <dc:creator>Лемуш Мариу Франсишку</dc:creator>
  <cp:keywords/>
  <dcterms:created xsi:type="dcterms:W3CDTF">2026-03-13T03:18:13Z</dcterms:created>
  <dcterms:modified xsi:type="dcterms:W3CDTF">2026-03-13T03:18:13Z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2025</vt:lpwstr>
  </property>
  <property fmtid="{D5CDD505-2E9C-101B-9397-08002B2CF9AE}" pid="3" name="mainfont">
    <vt:lpwstr>DejaVu Serif</vt:lpwstr>
  </property>
  <property fmtid="{D5CDD505-2E9C-101B-9397-08002B2CF9AE}" pid="4" name="monofont">
    <vt:lpwstr>DejaVu Sans Mono</vt:lpwstr>
  </property>
  <property fmtid="{D5CDD505-2E9C-101B-9397-08002B2CF9AE}" pid="5" name="sansfont">
    <vt:lpwstr>DejaVu Sans</vt:lpwstr>
  </property>
  <property fmtid="{D5CDD505-2E9C-101B-9397-08002B2CF9AE}" pid="6" name="subtitle">
    <vt:lpwstr>Управление дисками, разделами и файловыми системами</vt:lpwstr>
  </property>
  <property fmtid="{D5CDD505-2E9C-101B-9397-08002B2CF9AE}" pid="7" name="theme">
    <vt:lpwstr>CambridgeUS</vt:lpwstr>
  </property>
</Properties>
</file>